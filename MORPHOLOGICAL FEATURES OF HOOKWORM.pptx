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B09229D-6270-45ED-95E1-27F673F6830D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BC21-F2C1-E1F6-065C-D3BAF6B6F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38040-3BCE-E4EC-9AB7-4D8CA3257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D7AD-5865-B94B-B954-0B48042A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99874-C467-CE8D-8C42-725889FC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8106B-392A-4ECF-669C-4C26A4F2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1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74CB-2495-B838-434A-10BE1308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6385A-E4F8-7915-8EFF-CC503226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28443-4F33-D069-FCF3-76021B17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5E12-E2C6-3924-ECA7-A3EB71CF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1DBA3-351D-B012-6974-09DE32F1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8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3E20-7338-7101-9DF8-D8E3F808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5C17-2A31-02F3-A3DD-B6E44FBD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FB001-F079-B8DC-95B6-71B977B6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C802-47D5-5DC6-564F-78BA2172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19995-DCE5-6439-54D1-E0CD2783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3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B718-D521-7F3E-285F-798B9170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10F6-3585-F7A2-9950-4ECF2BB65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12BF-6B40-F107-AFF8-6EEC58B9E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B1D45-611F-C94C-1461-10816BF9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1AED5-89C0-65C7-B4FE-4FEE1449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8CCB7-8249-B6EF-FBCB-946A63AE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3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F6BE-785E-C1C1-655C-45469963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4D6BB-813D-8D0D-97B8-84D8D8BBC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9191F-5259-B3C8-CBD7-F3A740802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5E1FA-81DC-FE1F-0004-89FA1607B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0A657-F1E3-0C2C-D117-2783838DA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4F1EF-1D01-01FB-1990-30542E07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AC5E5-8634-0569-9D9C-EC727431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AF7D4-B2A5-036F-C890-2E72F4C7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6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C94B-40B4-88F3-1B37-70408E16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62012-5B46-B323-5213-E9D6A4E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5508C-3A17-6D43-FA7A-1931B2F2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7173B-D792-5B41-1C8A-625CBB9D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B6875-328A-4E66-BD32-F2D1ED3F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6E152-EBAB-39A6-0ADE-3C6BDA9A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DA25F-79EF-9A11-A379-2B7BC4F02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30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C3D4-2D1C-D5AF-C111-62CCB9E4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D7F8-9C60-116D-A8CA-F2F553C77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BBA3D-0944-362F-C2D1-5722128AF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7E92A-C35D-63B3-E9CB-3F918EA9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9E49-5058-9CD3-A8F4-D581FB4B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FDB32-109D-10C3-4EB5-7D34CBE0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4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3ACF-3C38-97B3-1350-87BC65C57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D0BBE-0233-FF1F-590F-D0435878C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94B76-056D-B407-49BA-552186B7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1CFF7-7CB2-FE11-10DB-0DBFABC0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A0D1-69D8-01CC-1111-E64D40B41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6A4CF-211B-433D-3781-9F9895A35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6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EFD2-2AB6-81E5-71DD-FAEEC94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DD9B3-FD6F-6F62-9B5B-75C8F273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783D9-CBB1-92F7-3BAE-935DEBEF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3DE14-6938-EF5F-5B91-2A0F23D0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FE25B-1F3D-C5CC-3CC7-033763CB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9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356C1-8B96-8AA8-D4F3-20D177CDE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F53AA-35A0-8E84-9C00-A1AFF701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F4C1-309A-DCAD-C0D3-A5DA22D5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FAB95-8E08-0266-4C66-4A664923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1BDCD-15C9-F9A7-293F-3BB5DC87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33DAE-BAD1-63F0-EFFD-3078C90D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70247-80A0-CE91-88DC-8759ED64E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7A6DE-EA71-1E3A-6822-70D65A2AE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05359-594C-4FC0-B3A0-01C0DD0F8A4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D3025-DDBE-33D8-B397-B60C958D9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533B-26FA-CF16-5C98-3406676C0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684C5-6B8C-41F4-82F0-61356FC47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2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AC00A-C23A-593A-B8D1-E22424D5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940914" cy="1325563"/>
          </a:xfrm>
        </p:spPr>
        <p:txBody>
          <a:bodyPr/>
          <a:lstStyle/>
          <a:p>
            <a:r>
              <a:rPr lang="en-US" u="sng" dirty="0"/>
              <a:t>MORPHOLOGICAL FEATURES OF HOOKWORM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DF1B4-A150-727D-BCE3-7D6541A2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Hookworms </a:t>
            </a:r>
            <a:r>
              <a:rPr lang="en-US" dirty="0"/>
              <a:t>are parasitic roundworms that live in human small intenstine feeding on blood and causing chronic blood loss which can lead to </a:t>
            </a:r>
            <a:r>
              <a:rPr lang="en-US" b="1" dirty="0"/>
              <a:t>iron deficiency,anemia </a:t>
            </a:r>
            <a:r>
              <a:rPr lang="en-US" dirty="0"/>
              <a:t>and </a:t>
            </a:r>
            <a:r>
              <a:rPr lang="en-US" b="1" dirty="0"/>
              <a:t>malnutrition.</a:t>
            </a:r>
          </a:p>
          <a:p>
            <a:r>
              <a:rPr lang="en-US" dirty="0"/>
              <a:t>They are classified as soil transimitted helminiths and are a major global health issue, particularly in tropical and subtropical regions with poor sanitation.</a:t>
            </a:r>
          </a:p>
          <a:p>
            <a:r>
              <a:rPr lang="en-US" dirty="0"/>
              <a:t>Hookworms primary cause a condition known as </a:t>
            </a:r>
            <a:r>
              <a:rPr lang="en-US" b="1" dirty="0"/>
              <a:t>hook disease </a:t>
            </a:r>
            <a:r>
              <a:rPr lang="en-US" dirty="0"/>
              <a:t>or </a:t>
            </a:r>
            <a:r>
              <a:rPr lang="en-US" b="1" dirty="0"/>
              <a:t>helminthiasis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5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9617-CCE3-1ED2-4B22-FE7A0D19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MORPHOLOGICAL FEATURES OF HOOKWORM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49921-483E-827C-C702-B1B1DA81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SIZE</a:t>
            </a:r>
            <a:r>
              <a:rPr lang="en-US" sz="2400" dirty="0"/>
              <a:t> </a:t>
            </a:r>
          </a:p>
          <a:p>
            <a:r>
              <a:rPr lang="en-US" sz="2400" dirty="0"/>
              <a:t>Hookworms are very small, slender roundworms that are difficult to see clearly without magnification. Their size changes significantly as they progress through their life cycle 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Thickness</a:t>
            </a:r>
            <a:r>
              <a:rPr lang="en-US" sz="2400" dirty="0"/>
              <a:t> adults are very thin usually only 0.4 to 0.6mm in diameter.</a:t>
            </a:r>
          </a:p>
          <a:p>
            <a:r>
              <a:rPr lang="en-US" sz="2400" b="1" dirty="0"/>
              <a:t>Colour</a:t>
            </a:r>
            <a:r>
              <a:rPr lang="en-US" sz="2400" dirty="0"/>
              <a:t> they are typically appear off white greyish or pink ,but they can look brown if they have recently fed on blood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25A9D5-CF93-08C2-9159-E12B40365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3275"/>
              </p:ext>
            </p:extLst>
          </p:nvPr>
        </p:nvGraphicFramePr>
        <p:xfrm>
          <a:off x="1241155" y="2743201"/>
          <a:ext cx="10226319" cy="192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069">
                  <a:extLst>
                    <a:ext uri="{9D8B030D-6E8A-4147-A177-3AD203B41FA5}">
                      <a16:colId xmlns:a16="http://schemas.microsoft.com/office/drawing/2014/main" val="294055476"/>
                    </a:ext>
                  </a:extLst>
                </a:gridCol>
                <a:gridCol w="2000132">
                  <a:extLst>
                    <a:ext uri="{9D8B030D-6E8A-4147-A177-3AD203B41FA5}">
                      <a16:colId xmlns:a16="http://schemas.microsoft.com/office/drawing/2014/main" val="3973921705"/>
                    </a:ext>
                  </a:extLst>
                </a:gridCol>
                <a:gridCol w="2636701">
                  <a:extLst>
                    <a:ext uri="{9D8B030D-6E8A-4147-A177-3AD203B41FA5}">
                      <a16:colId xmlns:a16="http://schemas.microsoft.com/office/drawing/2014/main" val="3026753179"/>
                    </a:ext>
                  </a:extLst>
                </a:gridCol>
                <a:gridCol w="2318417">
                  <a:extLst>
                    <a:ext uri="{9D8B030D-6E8A-4147-A177-3AD203B41FA5}">
                      <a16:colId xmlns:a16="http://schemas.microsoft.com/office/drawing/2014/main" val="855904461"/>
                    </a:ext>
                  </a:extLst>
                </a:gridCol>
              </a:tblGrid>
              <a:tr h="614596">
                <a:tc>
                  <a:txBody>
                    <a:bodyPr/>
                    <a:lstStyle/>
                    <a:p>
                      <a:r>
                        <a:rPr lang="en-US" dirty="0"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84608"/>
                  </a:ext>
                </a:extLst>
              </a:tr>
              <a:tr h="657277">
                <a:tc>
                  <a:txBody>
                    <a:bodyPr/>
                    <a:lstStyle/>
                    <a:p>
                      <a:r>
                        <a:rPr lang="en-US" dirty="0"/>
                        <a:t>ANCYLOSTOMA DEUDENALE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8-11mm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10-13mm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ABOUT THE LENGTH OF A THOMBTACK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57770"/>
                  </a:ext>
                </a:extLst>
              </a:tr>
              <a:tr h="657277">
                <a:tc>
                  <a:txBody>
                    <a:bodyPr/>
                    <a:lstStyle/>
                    <a:p>
                      <a:r>
                        <a:rPr lang="en-US" dirty="0"/>
                        <a:t>NECATOR AMERICANUS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5-9mm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9-11mm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ROUGHLY THE WIDITH OF A FINGERNAIL.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0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2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1182-9464-F2B7-AE6D-0958A080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u="sng" dirty="0"/>
              <a:t>MORPHOLOGICAL FEATURES OF HOOKWORM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13E6C-473B-E47D-49AC-219F66DF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SHAPE</a:t>
            </a:r>
          </a:p>
          <a:p>
            <a:r>
              <a:rPr lang="en-US" dirty="0"/>
              <a:t>The body is curved with the anterior end bent dorsally(backward) creating a hook shape.</a:t>
            </a:r>
          </a:p>
          <a:p>
            <a:r>
              <a:rPr lang="en-US" dirty="0"/>
              <a:t>They posses a well developed buccal capsule(mouth) at the anterior end  containing sharp teeth(Ancylostoma) or cutting plates (</a:t>
            </a:r>
            <a:r>
              <a:rPr lang="en-US" dirty="0" err="1"/>
              <a:t>nector</a:t>
            </a:r>
            <a:r>
              <a:rPr lang="en-US" dirty="0"/>
              <a:t>) to anchor to the host intestinal wall.</a:t>
            </a:r>
          </a:p>
          <a:p>
            <a:r>
              <a:rPr lang="en-US" dirty="0"/>
              <a:t>Male are generally smaller than female and have a prominent umbrella like structure at their end called a</a:t>
            </a:r>
            <a:r>
              <a:rPr lang="en-US" b="1" dirty="0"/>
              <a:t> copulatory bursa </a:t>
            </a:r>
            <a:r>
              <a:rPr lang="en-US" dirty="0"/>
              <a:t>used for mating.</a:t>
            </a:r>
          </a:p>
        </p:txBody>
      </p:sp>
    </p:spTree>
    <p:extLst>
      <p:ext uri="{BB962C8B-B14F-4D97-AF65-F5344CB8AC3E}">
        <p14:creationId xmlns:p14="http://schemas.microsoft.com/office/powerpoint/2010/main" val="387096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1584-12F5-3EB1-7442-A852D491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21" y="365125"/>
            <a:ext cx="10515600" cy="1325563"/>
          </a:xfrm>
        </p:spPr>
        <p:txBody>
          <a:bodyPr/>
          <a:lstStyle/>
          <a:p>
            <a:r>
              <a:rPr lang="en-US" u="sng" dirty="0"/>
              <a:t>MORPHOLOGICAL FEATURES OF HOOKWORM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2B6C4-C455-0243-BC09-4036E381A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MOTILITY</a:t>
            </a:r>
          </a:p>
          <a:p>
            <a:r>
              <a:rPr lang="en-US" dirty="0"/>
              <a:t>Hookworm motility is stage specific and crucial for their life cycles and move actively by it self.</a:t>
            </a:r>
          </a:p>
          <a:p>
            <a:pPr marL="0" indent="0">
              <a:buNone/>
            </a:pPr>
            <a:r>
              <a:rPr lang="en-US" b="1" dirty="0"/>
              <a:t>Environmental larvae (L1 and L3)</a:t>
            </a:r>
          </a:p>
          <a:p>
            <a:r>
              <a:rPr lang="en-US" dirty="0"/>
              <a:t>L1 Larvae are motile in soil and move by alternating contraction and relaxation of its muscles .the movement allow to crawl through moist and fecal matter.</a:t>
            </a:r>
          </a:p>
          <a:p>
            <a:r>
              <a:rPr lang="en-US" dirty="0"/>
              <a:t>L3 filariform larvae are extermly motile and can survive in moist shaded  soil for several weeks.they move by thrashing snake like action.</a:t>
            </a:r>
          </a:p>
        </p:txBody>
      </p:sp>
    </p:spTree>
    <p:extLst>
      <p:ext uri="{BB962C8B-B14F-4D97-AF65-F5344CB8AC3E}">
        <p14:creationId xmlns:p14="http://schemas.microsoft.com/office/powerpoint/2010/main" val="364949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EAB7-7C6B-E684-4C8D-68E6BA73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MORPHOLOGICAL FEATURES OF HOOKWORM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1C598-7708-658B-F4F0-107263DD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NUCLEUS</a:t>
            </a:r>
            <a:r>
              <a:rPr lang="en-US" dirty="0"/>
              <a:t> </a:t>
            </a:r>
          </a:p>
          <a:p>
            <a:r>
              <a:rPr lang="en-US" dirty="0"/>
              <a:t>Hookworms are eukaryotic nucleus in their cells .meaning their cells have a membrane bound nucleus  and other organelles.the nucleus contain nearly all of the cells genome organized into chromosomes.</a:t>
            </a:r>
          </a:p>
          <a:p>
            <a:pPr marL="0" indent="0">
              <a:buNone/>
            </a:pPr>
            <a:r>
              <a:rPr lang="en-US" b="1" dirty="0"/>
              <a:t>FLAGELLA</a:t>
            </a:r>
          </a:p>
          <a:p>
            <a:r>
              <a:rPr lang="en-US" dirty="0"/>
              <a:t>Hookworms do not have flagella in any of their life stages (eggs, larvae, or adult hookworm)</a:t>
            </a:r>
          </a:p>
          <a:p>
            <a:pPr marL="0" indent="0">
              <a:buNone/>
            </a:pPr>
            <a:r>
              <a:rPr lang="en-US" b="1" dirty="0"/>
              <a:t>HABITAT</a:t>
            </a:r>
          </a:p>
          <a:p>
            <a:r>
              <a:rPr lang="en-US" dirty="0"/>
              <a:t>Adult hookworm live in small intestine(jejunum)of their host (human)attaching to the wall to feed on blood.</a:t>
            </a:r>
          </a:p>
          <a:p>
            <a:r>
              <a:rPr lang="en-US" dirty="0"/>
              <a:t>Larval stage live or develops in warm moist soil and penetrates skin to begin the migration to the intestines.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828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3CC3-CC83-3BED-1CA8-A9A44DD6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5383" cy="1325563"/>
          </a:xfrm>
        </p:spPr>
        <p:txBody>
          <a:bodyPr/>
          <a:lstStyle/>
          <a:p>
            <a:r>
              <a:rPr lang="en-US" u="sng" dirty="0"/>
              <a:t>MORPHOLOGICAL FEATURES OF HOOKWORM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4EF6-0F62-5610-B8DB-4D636353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HOST</a:t>
            </a:r>
          </a:p>
          <a:p>
            <a:r>
              <a:rPr lang="en-US" dirty="0"/>
              <a:t>The primary host for hookworms specifically that infect  human(Nectar americunus and Ancylostoma duodenale)are</a:t>
            </a:r>
            <a:r>
              <a:rPr lang="en-US" b="1" dirty="0"/>
              <a:t> human </a:t>
            </a:r>
            <a:r>
              <a:rPr lang="en-US" dirty="0"/>
              <a:t>where they live in the small intenstine(duodenum orjejunum)</a:t>
            </a:r>
          </a:p>
          <a:p>
            <a:pPr marL="0" indent="0">
              <a:buNone/>
            </a:pPr>
            <a:r>
              <a:rPr lang="en-US" b="1" dirty="0"/>
              <a:t>PATHOGENISIS</a:t>
            </a:r>
          </a:p>
          <a:p>
            <a:r>
              <a:rPr lang="en-US" dirty="0"/>
              <a:t>After skin penetration by infective larvae (ground itch) migration through the lungs (cough, loefflers syndrome) and finally maturation in the small intestine .</a:t>
            </a:r>
          </a:p>
          <a:p>
            <a:pPr marL="0" indent="0">
              <a:buNone/>
            </a:pPr>
            <a:r>
              <a:rPr lang="en-US" b="1" dirty="0"/>
              <a:t>STAGES OF PATHOGENISIS</a:t>
            </a:r>
          </a:p>
          <a:p>
            <a:pPr marL="571500" indent="-571500">
              <a:buFont typeface="+mj-lt"/>
              <a:buAutoNum type="romanUcPeriod"/>
            </a:pPr>
            <a:r>
              <a:rPr lang="en-US" u="sng" dirty="0"/>
              <a:t>Skin invasion(cutaneous stage)</a:t>
            </a:r>
            <a:r>
              <a:rPr lang="en-US" dirty="0"/>
              <a:t>-penetrate skin usually feet cause ground itch a rash with redness itching(pruritus)and papules’</a:t>
            </a:r>
          </a:p>
          <a:p>
            <a:pPr marL="571500" indent="-571500">
              <a:buFont typeface="+mj-lt"/>
              <a:buAutoNum type="romanUcPeriod"/>
            </a:pPr>
            <a:r>
              <a:rPr lang="en-US" u="sng" dirty="0" err="1"/>
              <a:t>Pulmoary</a:t>
            </a:r>
            <a:r>
              <a:rPr lang="en-US" u="sng" dirty="0"/>
              <a:t> migration level (larval stage)</a:t>
            </a:r>
            <a:r>
              <a:rPr lang="en-US" dirty="0"/>
              <a:t>-larvae breaks into alveoli ascend the bronchi/trachea and cause some inflammation like coughing,wheezing.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u="sng" dirty="0" err="1"/>
              <a:t>Instestinal</a:t>
            </a:r>
            <a:r>
              <a:rPr lang="en-US" u="sng" dirty="0"/>
              <a:t> infection(adult stage)-</a:t>
            </a:r>
            <a:r>
              <a:rPr lang="en-US" dirty="0"/>
              <a:t>larvae mature into adults in jejunums(small intestinal) and go to affect or cause some infections.</a:t>
            </a:r>
          </a:p>
        </p:txBody>
      </p:sp>
    </p:spTree>
    <p:extLst>
      <p:ext uri="{BB962C8B-B14F-4D97-AF65-F5344CB8AC3E}">
        <p14:creationId xmlns:p14="http://schemas.microsoft.com/office/powerpoint/2010/main" val="289962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9639-DD54-4AC5-59FC-B5019780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MORPHOLOGICAL FEATURES OF HOOKW0RM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B6FB2-6BE9-54D7-AD1B-C861E62B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INFECTIVE STAGE</a:t>
            </a:r>
            <a:endParaRPr lang="en-US" dirty="0"/>
          </a:p>
          <a:p>
            <a:r>
              <a:rPr lang="en-US" dirty="0"/>
              <a:t>The infective stage of hookworm is the filariform larva L3 which develops from eggs in contaminated soil and actively penetrates the skin(usually bare feet)of human host .</a:t>
            </a:r>
          </a:p>
          <a:p>
            <a:pPr marL="0" indent="0">
              <a:buNone/>
            </a:pPr>
            <a:r>
              <a:rPr lang="en-US" b="1" dirty="0"/>
              <a:t>DIAGNOSTIC STAGE</a:t>
            </a:r>
          </a:p>
          <a:p>
            <a:r>
              <a:rPr lang="en-US" dirty="0"/>
              <a:t>The primary stage diagnostic stage for hookworms' infections is the identification of eggs in stool samples using a microscope. Revealing characteristics oval,segmented eggs,others indicator includes increasing eosinophilis (a white blood cells)in blood test for early detection, anemia and skin rashes (cutaneous larva migrans or ground itch)from larval penetration.</a:t>
            </a:r>
          </a:p>
        </p:txBody>
      </p:sp>
    </p:spTree>
    <p:extLst>
      <p:ext uri="{BB962C8B-B14F-4D97-AF65-F5344CB8AC3E}">
        <p14:creationId xmlns:p14="http://schemas.microsoft.com/office/powerpoint/2010/main" val="211031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122D0-AF10-0C83-6A2C-3C73BDB3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64" y="215223"/>
            <a:ext cx="10513102" cy="1325563"/>
          </a:xfrm>
        </p:spPr>
        <p:txBody>
          <a:bodyPr/>
          <a:lstStyle/>
          <a:p>
            <a:r>
              <a:rPr lang="en-US" b="1" dirty="0"/>
              <a:t>GROUP NUMBER 09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4412C-0364-C6AF-622A-D639DD883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3131" y="1825625"/>
            <a:ext cx="5487649" cy="4650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GROUP MEMBERS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YOSHUA ANTHONY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GODFREY WINFRID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ELIAS NDEIVAI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ABDULAZIZ SAJID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YUSRA ABDULRAHAMAN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LOVENESS IDDY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FRAHISCA FORTUNATUS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838EF-1347-CC58-0212-4E6020BF7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63933" y="-734518"/>
            <a:ext cx="45719" cy="646069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8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698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MORPHOLOGICAL FEATURES OF HOOKWORM</vt:lpstr>
      <vt:lpstr>MORPHOLOGICAL FEATURES OF HOOKWORM</vt:lpstr>
      <vt:lpstr>MORPHOLOGICAL FEATURES OF HOOKWORM</vt:lpstr>
      <vt:lpstr>MORPHOLOGICAL FEATURES OF HOOKWORM</vt:lpstr>
      <vt:lpstr>MORPHOLOGICAL FEATURES OF HOOKWORM</vt:lpstr>
      <vt:lpstr>MORPHOLOGICAL FEATURES OF HOOKWORM</vt:lpstr>
      <vt:lpstr>MORPHOLOGICAL FEATURES OF HOOKW0RM</vt:lpstr>
      <vt:lpstr>GROUP NUMBER 09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ellyathony19@gmail.com</dc:creator>
  <cp:lastModifiedBy>ellyathony19@gmail.com</cp:lastModifiedBy>
  <cp:revision>3</cp:revision>
  <dcterms:created xsi:type="dcterms:W3CDTF">2025-12-17T17:47:08Z</dcterms:created>
  <dcterms:modified xsi:type="dcterms:W3CDTF">2025-12-18T16:32:07Z</dcterms:modified>
</cp:coreProperties>
</file>